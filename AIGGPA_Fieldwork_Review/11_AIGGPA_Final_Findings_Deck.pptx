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1645920"/>
            <a:ext cx="10360152" cy="4114800"/>
          </a:xfrm>
          <a:prstGeom prst="rect">
            <a:avLst/>
          </a:prstGeom>
          <a:noFill/>
        </p:spPr>
        <p:txBody>
          <a:bodyPr wrap="square" lIns="0" rIns="0" tIns="0" bIns="0">
            <a:spAutoFit/>
          </a:bodyPr>
          <a:lstStyle/>
          <a:p>
            <a:pPr>
              <a:spcAft>
                <a:spcPts val="1000"/>
              </a:spcAft>
              <a:defRPr sz="4000" b="1">
                <a:solidFill>
                  <a:srgbClr val="FFFFFF"/>
                </a:solidFill>
                <a:latin typeface="Trebuchet MS"/>
              </a:defRPr>
            </a:pPr>
            <a:r>
              <a:t>ASSESSMENT OF DIGITAL TOOL ADOPTION</a:t>
            </a:r>
          </a:p>
          <a:p>
            <a:pPr>
              <a:spcAft>
                <a:spcPts val="4800"/>
              </a:spcAft>
              <a:defRPr sz="2400">
                <a:solidFill>
                  <a:srgbClr val="C49A2A"/>
                </a:solidFill>
                <a:latin typeface="Trebuchet MS"/>
              </a:defRPr>
            </a:pPr>
            <a:r>
              <a:t>Its Impact on Work Efficiency in MP Government Departments</a:t>
            </a:r>
          </a:p>
          <a:p>
            <a:pPr>
              <a:spcAft>
                <a:spcPts val="600"/>
              </a:spcAft>
              <a:defRPr sz="1600" b="1">
                <a:solidFill>
                  <a:srgbClr val="FFFFFF"/>
                </a:solidFill>
                <a:latin typeface="Calibri"/>
              </a:defRPr>
            </a:pPr>
            <a:r>
              <a:t>Prepared by: Aryan Kori, Research Intern</a:t>
            </a:r>
          </a:p>
          <a:p>
            <a:pPr>
              <a:defRPr sz="1400">
                <a:solidFill>
                  <a:srgbClr val="718096"/>
                </a:solidFill>
                <a:latin typeface="Calibri"/>
              </a:defRPr>
            </a:pPr>
            <a:r>
              <a:t>Centre for Human Resource &amp; Technology (CHR-T)</a:t>
            </a:r>
            <a:br/>
            <a:r>
              <a:t>Atal Bihari Vajpayee Institute of Good Governance and Policy Analysis (AIGGPA)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C49A2A"/>
                </a:solidFill>
                <a:latin typeface="Calibri"/>
              </a:defRPr>
            </a:pPr>
            <a:r>
              <a:t>AIGGPA FIELDWORK STUDY</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1B2A4A"/>
                </a:solidFill>
                <a:latin typeface="Trebuchet MS"/>
              </a:defRPr>
            </a:pPr>
            <a:r>
              <a:t>Study Scoping &amp; Target Sample Framework</a:t>
            </a:r>
          </a:p>
        </p:txBody>
      </p:sp>
      <p:sp>
        <p:nvSpPr>
          <p:cNvPr id="4" name="TextBox 3"/>
          <p:cNvSpPr txBox="1"/>
          <p:nvPr/>
        </p:nvSpPr>
        <p:spPr>
          <a:xfrm>
            <a:off x="731520" y="1645920"/>
            <a:ext cx="5486400" cy="4389120"/>
          </a:xfrm>
          <a:prstGeom prst="rect">
            <a:avLst/>
          </a:prstGeom>
          <a:noFill/>
        </p:spPr>
        <p:txBody>
          <a:bodyPr wrap="square" lIns="0" rIns="0" tIns="0" bIns="0">
            <a:spAutoFit/>
          </a:bodyPr>
          <a:lstStyle/>
          <a:p>
            <a:pPr>
              <a:spcAft>
                <a:spcPts val="1200"/>
              </a:spcAft>
            </a:pPr>
            <a:r>
              <a:rPr b="1" sz="1600">
                <a:solidFill>
                  <a:srgbClr val="1B2A4A"/>
                </a:solidFill>
                <a:latin typeface="Calibri"/>
              </a:rPr>
              <a:t>Core Objective: </a:t>
            </a:r>
            <a:r>
              <a:rPr b="0" sz="1600">
                <a:solidFill>
                  <a:srgbClr val="2D3748"/>
                </a:solidFill>
                <a:latin typeface="Calibri"/>
              </a:rPr>
              <a:t>Evaluate digital tool adoption, map administrative bottlenecks, and formulate data-driven policy changes for MP state departments.</a:t>
            </a:r>
          </a:p>
          <a:p>
            <a:pPr>
              <a:spcAft>
                <a:spcPts val="1200"/>
              </a:spcAft>
            </a:pPr>
            <a:r>
              <a:rPr b="1" sz="1500">
                <a:solidFill>
                  <a:srgbClr val="1B2A4A"/>
                </a:solidFill>
                <a:latin typeface="Calibri"/>
              </a:rPr>
              <a:t>Refined Scope: </a:t>
            </a:r>
            <a:r>
              <a:rPr b="0" sz="1500">
                <a:solidFill>
                  <a:srgbClr val="2D3748"/>
                </a:solidFill>
                <a:latin typeface="Calibri"/>
              </a:rPr>
              <a:t>Following CEO review, consolidated target departments to three core pillars (Forest, Rural Development, Revenue) to maximize fieldwork depth.</a:t>
            </a:r>
          </a:p>
          <a:p>
            <a:pPr>
              <a:spcAft>
                <a:spcPts val="1200"/>
              </a:spcAft>
            </a:pPr>
            <a:r>
              <a:rPr b="1" sz="1500">
                <a:solidFill>
                  <a:srgbClr val="1B2A4A"/>
                </a:solidFill>
                <a:latin typeface="Calibri"/>
              </a:rPr>
              <a:t>Health Department Exclusion: </a:t>
            </a:r>
            <a:r>
              <a:rPr b="0" sz="1500">
                <a:solidFill>
                  <a:srgbClr val="2D3748"/>
                </a:solidFill>
                <a:latin typeface="Calibri"/>
              </a:rPr>
              <a:t>CMHO and BMO level clearances faced severe administrative and clinical delays, creating high fieldwork friction under the tight timeline.</a:t>
            </a:r>
          </a:p>
          <a:p>
            <a:pPr>
              <a:spcAft>
                <a:spcPts val="1200"/>
              </a:spcAft>
            </a:pPr>
            <a:r>
              <a:rPr b="1" sz="1500">
                <a:solidFill>
                  <a:srgbClr val="1B2A4A"/>
                </a:solidFill>
                <a:latin typeface="Calibri"/>
              </a:rPr>
              <a:t>Cadre Stratification: </a:t>
            </a:r>
            <a:r>
              <a:rPr b="0" sz="1500">
                <a:solidFill>
                  <a:srgbClr val="2D3748"/>
                </a:solidFill>
                <a:latin typeface="Calibri"/>
              </a:rPr>
              <a:t>Covers four distinct staff levels (Class I: Directors/DFOs, Class II: Managers/BDOs, Class III: PAs/Patwaris, Class IV: Guards/Peons).</a:t>
            </a:r>
          </a:p>
        </p:txBody>
      </p:sp>
      <p:sp>
        <p:nvSpPr>
          <p:cNvPr id="5" name="Rectangle 4"/>
          <p:cNvSpPr/>
          <p:nvPr/>
        </p:nvSpPr>
        <p:spPr>
          <a:xfrm>
            <a:off x="6858000" y="1645920"/>
            <a:ext cx="4572000" cy="2011680"/>
          </a:xfrm>
          <a:prstGeom prst="rect">
            <a:avLst/>
          </a:prstGeom>
          <a:solidFill>
            <a:srgbClr val="1B2A4A"/>
          </a:solidFill>
          <a:ln>
            <a:solidFill>
              <a:srgbClr val="C49A2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800"/>
              </a:spcAft>
              <a:defRPr sz="1100" b="1">
                <a:solidFill>
                  <a:srgbClr val="C49A2A"/>
                </a:solidFill>
                <a:latin typeface="Calibri"/>
              </a:defRPr>
            </a:pPr>
            <a:r>
              <a:t>REVISED TARGET SAMPLE SIZE</a:t>
            </a:r>
          </a:p>
          <a:p>
            <a:pPr algn="l">
              <a:spcAft>
                <a:spcPts val="800"/>
              </a:spcAft>
              <a:defRPr sz="4400" b="1">
                <a:solidFill>
                  <a:srgbClr val="FFFFFF"/>
                </a:solidFill>
                <a:latin typeface="Trebuchet MS"/>
              </a:defRPr>
            </a:pPr>
            <a:r>
              <a:t>N = 140</a:t>
            </a:r>
          </a:p>
          <a:p>
            <a:pPr algn="l">
              <a:defRPr sz="1300">
                <a:solidFill>
                  <a:srgbClr val="FFFFFF"/>
                </a:solidFill>
                <a:latin typeface="Calibri"/>
              </a:defRPr>
            </a:pPr>
            <a:r>
              <a:t>Consolidated scope focused on depth rather than breadth. Formulated and approved to achieve N=140 responses total.</a:t>
            </a:r>
          </a:p>
        </p:txBody>
      </p:sp>
      <p:sp>
        <p:nvSpPr>
          <p:cNvPr id="6" name="Rectangle 5"/>
          <p:cNvSpPr/>
          <p:nvPr/>
        </p:nvSpPr>
        <p:spPr>
          <a:xfrm>
            <a:off x="6858000" y="3931920"/>
            <a:ext cx="4572000" cy="2103120"/>
          </a:xfrm>
          <a:prstGeom prst="rect">
            <a:avLst/>
          </a:prstGeom>
          <a:solidFill>
            <a:srgbClr val="F0F4F8"/>
          </a:solidFill>
          <a:ln>
            <a:solidFill>
              <a:srgbClr val="F0F4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defRPr sz="1800" b="1">
                <a:solidFill>
                  <a:srgbClr val="1B2A4A"/>
                </a:solidFill>
                <a:latin typeface="Trebuchet MS"/>
              </a:defRPr>
            </a:pPr>
            <a:r>
              <a:t>Sampling Distribution by Sector</a:t>
            </a:r>
          </a:p>
          <a:p>
            <a:pPr>
              <a:defRPr sz="1400">
                <a:solidFill>
                  <a:srgbClr val="2D3748"/>
                </a:solidFill>
                <a:latin typeface="Calibri"/>
              </a:defRPr>
            </a:pPr>
            <a:r>
              <a:t>• Forest Department (HQ &amp; DO): Target N=80</a:t>
            </a:r>
            <a:br/>
            <a:r>
              <a:t>• Revenue Department (DO Pilot): Target N=40</a:t>
            </a:r>
            <a:br/>
            <a:r>
              <a:t>• Rural Development (HQ SRLM): Target N=20</a:t>
            </a:r>
            <a:br/>
            <a:br/>
            <a:r>
              <a:t>Maintains a statistically rigorous dataset for comparative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C49A2A"/>
                </a:solidFill>
                <a:latin typeface="Calibri"/>
              </a:defRPr>
            </a:pPr>
            <a:r>
              <a:t>AIGGPA FIELDWORK STUDY</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1B2A4A"/>
                </a:solidFill>
                <a:latin typeface="Trebuchet MS"/>
              </a:defRPr>
            </a:pPr>
            <a:r>
              <a:t>Fieldwork Progress &amp; Database Pipeline</a:t>
            </a:r>
          </a:p>
        </p:txBody>
      </p:sp>
      <p:graphicFrame>
        <p:nvGraphicFramePr>
          <p:cNvPr id="4" name="Table 3"/>
          <p:cNvGraphicFramePr>
            <a:graphicFrameLocks noGrp="1"/>
          </p:cNvGraphicFramePr>
          <p:nvPr/>
        </p:nvGraphicFramePr>
        <p:xfrm>
          <a:off x="731520" y="1645920"/>
          <a:ext cx="5486400" cy="4114800"/>
        </p:xfrm>
        <a:graphic>
          <a:graphicData uri="http://schemas.openxmlformats.org/drawingml/2006/table">
            <a:tbl>
              <a:tblPr firstRow="1" bandRow="1">
                <a:tableStyleId>{5C22544A-7EE6-4342-B048-85BDC9FD1C3A}</a:tableStyleId>
              </a:tblPr>
              <a:tblGrid>
                <a:gridCol w="1828800"/>
                <a:gridCol w="1188720"/>
                <a:gridCol w="1188720"/>
                <a:gridCol w="1280160"/>
              </a:tblGrid>
              <a:tr h="822960">
                <a:tc>
                  <a:txBody>
                    <a:bodyPr/>
                    <a:lstStyle/>
                    <a:p>
                      <a:pPr algn="ctr">
                        <a:defRPr b="1" sz="1300">
                          <a:solidFill>
                            <a:srgbClr val="FFFFFF"/>
                          </a:solidFill>
                        </a:defRPr>
                      </a:pPr>
                      <a:r>
                        <a:t>Department</a:t>
                      </a:r>
                    </a:p>
                  </a:txBody>
                  <a:tcPr>
                    <a:solidFill>
                      <a:srgbClr val="1B2A4A"/>
                    </a:solidFill>
                  </a:tcPr>
                </a:tc>
                <a:tc>
                  <a:txBody>
                    <a:bodyPr/>
                    <a:lstStyle/>
                    <a:p>
                      <a:pPr algn="ctr">
                        <a:defRPr b="1" sz="1300">
                          <a:solidFill>
                            <a:srgbClr val="FFFFFF"/>
                          </a:solidFill>
                        </a:defRPr>
                      </a:pPr>
                      <a:r>
                        <a:t>Target N</a:t>
                      </a:r>
                    </a:p>
                  </a:txBody>
                  <a:tcPr>
                    <a:solidFill>
                      <a:srgbClr val="1B2A4A"/>
                    </a:solidFill>
                  </a:tcPr>
                </a:tc>
                <a:tc>
                  <a:txBody>
                    <a:bodyPr/>
                    <a:lstStyle/>
                    <a:p>
                      <a:pPr algn="ctr">
                        <a:defRPr b="1" sz="1300">
                          <a:solidFill>
                            <a:srgbClr val="FFFFFF"/>
                          </a:solidFill>
                        </a:defRPr>
                      </a:pPr>
                      <a:r>
                        <a:t>Actual N</a:t>
                      </a:r>
                    </a:p>
                  </a:txBody>
                  <a:tcPr>
                    <a:solidFill>
                      <a:srgbClr val="1B2A4A"/>
                    </a:solidFill>
                  </a:tcPr>
                </a:tc>
                <a:tc>
                  <a:txBody>
                    <a:bodyPr/>
                    <a:lstStyle/>
                    <a:p>
                      <a:pPr algn="ctr">
                        <a:defRPr b="1" sz="1300">
                          <a:solidFill>
                            <a:srgbClr val="FFFFFF"/>
                          </a:solidFill>
                        </a:defRPr>
                      </a:pPr>
                      <a:r>
                        <a:t>Progress %</a:t>
                      </a:r>
                    </a:p>
                  </a:txBody>
                  <a:tcPr>
                    <a:solidFill>
                      <a:srgbClr val="1B2A4A"/>
                    </a:solidFill>
                  </a:tcPr>
                </a:tc>
              </a:tr>
              <a:tr h="822960">
                <a:tc>
                  <a:txBody>
                    <a:bodyPr/>
                    <a:lstStyle/>
                    <a:p>
                      <a:pPr algn="l">
                        <a:defRPr sz="1200">
                          <a:solidFill>
                            <a:srgbClr val="2D3748"/>
                          </a:solidFill>
                        </a:defRPr>
                      </a:pPr>
                      <a:r>
                        <a:t>Forest (HQ &amp; DO)</a:t>
                      </a:r>
                    </a:p>
                  </a:txBody>
                  <a:tcPr>
                    <a:solidFill>
                      <a:srgbClr val="FFFFFF"/>
                    </a:solidFill>
                  </a:tcPr>
                </a:tc>
                <a:tc>
                  <a:txBody>
                    <a:bodyPr/>
                    <a:lstStyle/>
                    <a:p>
                      <a:pPr algn="ctr">
                        <a:defRPr sz="1200">
                          <a:solidFill>
                            <a:srgbClr val="2D3748"/>
                          </a:solidFill>
                        </a:defRPr>
                      </a:pPr>
                      <a:r>
                        <a:t>80</a:t>
                      </a:r>
                    </a:p>
                  </a:txBody>
                  <a:tcPr>
                    <a:solidFill>
                      <a:srgbClr val="FFFFFF"/>
                    </a:solidFill>
                  </a:tcPr>
                </a:tc>
                <a:tc>
                  <a:txBody>
                    <a:bodyPr/>
                    <a:lstStyle/>
                    <a:p>
                      <a:pPr algn="ctr">
                        <a:defRPr sz="1200">
                          <a:solidFill>
                            <a:srgbClr val="2D3748"/>
                          </a:solidFill>
                        </a:defRPr>
                      </a:pPr>
                      <a:r>
                        <a:t>52</a:t>
                      </a:r>
                    </a:p>
                  </a:txBody>
                  <a:tcPr>
                    <a:solidFill>
                      <a:srgbClr val="FFFFFF"/>
                    </a:solidFill>
                  </a:tcPr>
                </a:tc>
                <a:tc>
                  <a:txBody>
                    <a:bodyPr/>
                    <a:lstStyle/>
                    <a:p>
                      <a:pPr algn="ctr">
                        <a:defRPr sz="1200">
                          <a:solidFill>
                            <a:srgbClr val="2D3748"/>
                          </a:solidFill>
                        </a:defRPr>
                      </a:pPr>
                      <a:r>
                        <a:t>65%</a:t>
                      </a:r>
                    </a:p>
                  </a:txBody>
                  <a:tcPr>
                    <a:solidFill>
                      <a:srgbClr val="FFFFFF"/>
                    </a:solidFill>
                  </a:tcPr>
                </a:tc>
              </a:tr>
              <a:tr h="822960">
                <a:tc>
                  <a:txBody>
                    <a:bodyPr/>
                    <a:lstStyle/>
                    <a:p>
                      <a:pPr algn="l">
                        <a:defRPr sz="1200">
                          <a:solidFill>
                            <a:srgbClr val="2D3748"/>
                          </a:solidFill>
                        </a:defRPr>
                      </a:pPr>
                      <a:r>
                        <a:t>Rural Development</a:t>
                      </a:r>
                    </a:p>
                  </a:txBody>
                  <a:tcPr>
                    <a:solidFill>
                      <a:srgbClr val="FFFFFF"/>
                    </a:solidFill>
                  </a:tcPr>
                </a:tc>
                <a:tc>
                  <a:txBody>
                    <a:bodyPr/>
                    <a:lstStyle/>
                    <a:p>
                      <a:pPr algn="ctr">
                        <a:defRPr sz="1200">
                          <a:solidFill>
                            <a:srgbClr val="2D3748"/>
                          </a:solidFill>
                        </a:defRPr>
                      </a:pPr>
                      <a:r>
                        <a:t>20</a:t>
                      </a:r>
                    </a:p>
                  </a:txBody>
                  <a:tcPr>
                    <a:solidFill>
                      <a:srgbClr val="FFFFFF"/>
                    </a:solidFill>
                  </a:tcPr>
                </a:tc>
                <a:tc>
                  <a:txBody>
                    <a:bodyPr/>
                    <a:lstStyle/>
                    <a:p>
                      <a:pPr algn="ctr">
                        <a:defRPr sz="1200">
                          <a:solidFill>
                            <a:srgbClr val="2D3748"/>
                          </a:solidFill>
                        </a:defRPr>
                      </a:pPr>
                      <a:r>
                        <a:t>19</a:t>
                      </a:r>
                    </a:p>
                  </a:txBody>
                  <a:tcPr>
                    <a:solidFill>
                      <a:srgbClr val="FFFFFF"/>
                    </a:solidFill>
                  </a:tcPr>
                </a:tc>
                <a:tc>
                  <a:txBody>
                    <a:bodyPr/>
                    <a:lstStyle/>
                    <a:p>
                      <a:pPr algn="ctr">
                        <a:defRPr sz="1200">
                          <a:solidFill>
                            <a:srgbClr val="2D3748"/>
                          </a:solidFill>
                        </a:defRPr>
                      </a:pPr>
                      <a:r>
                        <a:t>95%</a:t>
                      </a:r>
                    </a:p>
                  </a:txBody>
                  <a:tcPr>
                    <a:solidFill>
                      <a:srgbClr val="FFFFFF"/>
                    </a:solidFill>
                  </a:tcPr>
                </a:tc>
              </a:tr>
              <a:tr h="822960">
                <a:tc>
                  <a:txBody>
                    <a:bodyPr/>
                    <a:lstStyle/>
                    <a:p>
                      <a:pPr algn="l">
                        <a:defRPr sz="1200">
                          <a:solidFill>
                            <a:srgbClr val="2D3748"/>
                          </a:solidFill>
                        </a:defRPr>
                      </a:pPr>
                      <a:r>
                        <a:t>Revenue (DO Pilot)</a:t>
                      </a:r>
                    </a:p>
                  </a:txBody>
                  <a:tcPr>
                    <a:solidFill>
                      <a:srgbClr val="FFFFFF"/>
                    </a:solidFill>
                  </a:tcPr>
                </a:tc>
                <a:tc>
                  <a:txBody>
                    <a:bodyPr/>
                    <a:lstStyle/>
                    <a:p>
                      <a:pPr algn="ctr">
                        <a:defRPr sz="1200">
                          <a:solidFill>
                            <a:srgbClr val="2D3748"/>
                          </a:solidFill>
                        </a:defRPr>
                      </a:pPr>
                      <a:r>
                        <a:t>40</a:t>
                      </a:r>
                    </a:p>
                  </a:txBody>
                  <a:tcPr>
                    <a:solidFill>
                      <a:srgbClr val="FFFFFF"/>
                    </a:solidFill>
                  </a:tcPr>
                </a:tc>
                <a:tc>
                  <a:txBody>
                    <a:bodyPr/>
                    <a:lstStyle/>
                    <a:p>
                      <a:pPr algn="ctr">
                        <a:defRPr sz="1200">
                          <a:solidFill>
                            <a:srgbClr val="2D3748"/>
                          </a:solidFill>
                        </a:defRPr>
                      </a:pPr>
                      <a:r>
                        <a:t>4</a:t>
                      </a:r>
                    </a:p>
                  </a:txBody>
                  <a:tcPr>
                    <a:solidFill>
                      <a:srgbClr val="FFFFFF"/>
                    </a:solidFill>
                  </a:tcPr>
                </a:tc>
                <a:tc>
                  <a:txBody>
                    <a:bodyPr/>
                    <a:lstStyle/>
                    <a:p>
                      <a:pPr algn="ctr">
                        <a:defRPr sz="1200">
                          <a:solidFill>
                            <a:srgbClr val="2D3748"/>
                          </a:solidFill>
                        </a:defRPr>
                      </a:pPr>
                      <a:r>
                        <a:t>10%</a:t>
                      </a:r>
                    </a:p>
                  </a:txBody>
                  <a:tcPr>
                    <a:solidFill>
                      <a:srgbClr val="FFFFFF"/>
                    </a:solidFill>
                  </a:tcPr>
                </a:tc>
              </a:tr>
              <a:tr h="822960">
                <a:tc>
                  <a:txBody>
                    <a:bodyPr/>
                    <a:lstStyle/>
                    <a:p>
                      <a:pPr algn="l">
                        <a:defRPr sz="1200" b="1">
                          <a:solidFill>
                            <a:srgbClr val="2D3748"/>
                          </a:solidFill>
                        </a:defRPr>
                      </a:pPr>
                      <a:r>
                        <a:t>Total</a:t>
                      </a:r>
                    </a:p>
                  </a:txBody>
                  <a:tcPr>
                    <a:solidFill>
                      <a:srgbClr val="F0F4F8"/>
                    </a:solidFill>
                  </a:tcPr>
                </a:tc>
                <a:tc>
                  <a:txBody>
                    <a:bodyPr/>
                    <a:lstStyle/>
                    <a:p>
                      <a:pPr algn="ctr">
                        <a:defRPr sz="1200" b="1">
                          <a:solidFill>
                            <a:srgbClr val="2D3748"/>
                          </a:solidFill>
                        </a:defRPr>
                      </a:pPr>
                      <a:r>
                        <a:t>140</a:t>
                      </a:r>
                    </a:p>
                  </a:txBody>
                  <a:tcPr>
                    <a:solidFill>
                      <a:srgbClr val="F0F4F8"/>
                    </a:solidFill>
                  </a:tcPr>
                </a:tc>
                <a:tc>
                  <a:txBody>
                    <a:bodyPr/>
                    <a:lstStyle/>
                    <a:p>
                      <a:pPr algn="ctr">
                        <a:defRPr sz="1200" b="1">
                          <a:solidFill>
                            <a:srgbClr val="2D3748"/>
                          </a:solidFill>
                        </a:defRPr>
                      </a:pPr>
                      <a:r>
                        <a:t>75</a:t>
                      </a:r>
                    </a:p>
                  </a:txBody>
                  <a:tcPr>
                    <a:solidFill>
                      <a:srgbClr val="F0F4F8"/>
                    </a:solidFill>
                  </a:tcPr>
                </a:tc>
                <a:tc>
                  <a:txBody>
                    <a:bodyPr/>
                    <a:lstStyle/>
                    <a:p>
                      <a:pPr algn="ctr">
                        <a:defRPr sz="1200" b="1">
                          <a:solidFill>
                            <a:srgbClr val="FFFFFF"/>
                          </a:solidFill>
                        </a:defRPr>
                      </a:pPr>
                      <a:r>
                        <a:t>54%</a:t>
                      </a:r>
                    </a:p>
                  </a:txBody>
                  <a:tcPr>
                    <a:solidFill>
                      <a:srgbClr val="C49A2A"/>
                    </a:solidFill>
                  </a:tcPr>
                </a:tc>
              </a:tr>
            </a:tbl>
          </a:graphicData>
        </a:graphic>
      </p:graphicFrame>
      <p:sp>
        <p:nvSpPr>
          <p:cNvPr id="5" name="TextBox 4"/>
          <p:cNvSpPr txBox="1"/>
          <p:nvPr/>
        </p:nvSpPr>
        <p:spPr>
          <a:xfrm>
            <a:off x="6858000" y="1645920"/>
            <a:ext cx="4572000" cy="4389120"/>
          </a:xfrm>
          <a:prstGeom prst="rect">
            <a:avLst/>
          </a:prstGeom>
          <a:noFill/>
        </p:spPr>
        <p:txBody>
          <a:bodyPr wrap="square" lIns="0" rIns="0" tIns="0" bIns="0">
            <a:spAutoFit/>
          </a:bodyPr>
          <a:lstStyle/>
          <a:p>
            <a:pPr>
              <a:spcAft>
                <a:spcPts val="1200"/>
              </a:spcAft>
            </a:pPr>
            <a:r>
              <a:rPr b="1" sz="1600">
                <a:solidFill>
                  <a:srgbClr val="1B2A4A"/>
                </a:solidFill>
                <a:latin typeface="Calibri"/>
              </a:rPr>
              <a:t>Audit Integrity: </a:t>
            </a:r>
            <a:r>
              <a:rPr b="0" sz="1600">
                <a:solidFill>
                  <a:srgbClr val="2D3748"/>
                </a:solidFill>
                <a:latin typeface="Calibri"/>
              </a:rPr>
              <a:t>Built and executed 'validate_tracker.py' to run database constraint checks. Confirmed zero duplicate IDs and verified complete file attachment logs.</a:t>
            </a:r>
          </a:p>
          <a:p>
            <a:pPr>
              <a:spcAft>
                <a:spcPts val="1200"/>
              </a:spcAft>
            </a:pPr>
            <a:r>
              <a:rPr b="1" sz="1500">
                <a:solidFill>
                  <a:srgbClr val="1B2A4A"/>
                </a:solidFill>
                <a:latin typeface="Calibri"/>
              </a:rPr>
              <a:t>Automated Pipeline: </a:t>
            </a:r>
            <a:r>
              <a:rPr b="0" sz="1500">
                <a:solidFill>
                  <a:srgbClr val="2D3748"/>
                </a:solidFill>
                <a:latin typeface="Calibri"/>
              </a:rPr>
              <a:t>Data is directly ingested into the AIGGPA Master Tracker. Descriptive stats, Cronbach's reliability, and cross-tab tables are processed automatically via Python.</a:t>
            </a:r>
          </a:p>
          <a:p>
            <a:pPr>
              <a:spcAft>
                <a:spcPts val="1200"/>
              </a:spcAft>
            </a:pPr>
            <a:r>
              <a:rPr b="1" sz="1500">
                <a:solidFill>
                  <a:srgbClr val="1B2A4A"/>
                </a:solidFill>
                <a:latin typeface="Calibri"/>
              </a:rPr>
              <a:t>Rapid Report Compile: </a:t>
            </a:r>
            <a:r>
              <a:rPr b="0" sz="1500">
                <a:solidFill>
                  <a:srgbClr val="2D3748"/>
                </a:solidFill>
                <a:latin typeface="Calibri"/>
              </a:rPr>
              <a:t>Analysis scripts are fully tested. The moment data collection ends, descriptive tables and charts compile instantly, cutting days off report drafting.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C49A2A"/>
                </a:solidFill>
                <a:latin typeface="Calibri"/>
              </a:defRPr>
            </a:pPr>
            <a:r>
              <a:t>AIGGPA FIELDWORK STUDY</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1B2A4A"/>
                </a:solidFill>
                <a:latin typeface="Trebuchet MS"/>
              </a:defRPr>
            </a:pPr>
            <a:r>
              <a:t>Finding 1: The Intra-Departmental Digital Divide</a:t>
            </a:r>
          </a:p>
        </p:txBody>
      </p:sp>
      <p:sp>
        <p:nvSpPr>
          <p:cNvPr id="4" name="TextBox 3"/>
          <p:cNvSpPr txBox="1"/>
          <p:nvPr/>
        </p:nvSpPr>
        <p:spPr>
          <a:xfrm>
            <a:off x="731520" y="1645920"/>
            <a:ext cx="5486400" cy="4389120"/>
          </a:xfrm>
          <a:prstGeom prst="rect">
            <a:avLst/>
          </a:prstGeom>
          <a:noFill/>
        </p:spPr>
        <p:txBody>
          <a:bodyPr wrap="square" lIns="0" rIns="0" tIns="0" bIns="0">
            <a:spAutoFit/>
          </a:bodyPr>
          <a:lstStyle/>
          <a:p>
            <a:pPr>
              <a:spcAft>
                <a:spcPts val="1200"/>
              </a:spcAft>
            </a:pPr>
            <a:r>
              <a:rPr b="1" sz="1600">
                <a:solidFill>
                  <a:srgbClr val="1B2A4A"/>
                </a:solidFill>
                <a:latin typeface="Calibri"/>
              </a:rPr>
              <a:t>Vertical Disparity: </a:t>
            </a:r>
            <a:r>
              <a:rPr b="0" sz="1600">
                <a:solidFill>
                  <a:srgbClr val="2D3748"/>
                </a:solidFill>
                <a:latin typeface="Calibri"/>
              </a:rPr>
              <a:t>High-level Class I and II officers report 100% device availability and stable high-speed internet. Class IV field staff report near-zero access.</a:t>
            </a:r>
          </a:p>
          <a:p>
            <a:pPr>
              <a:spcAft>
                <a:spcPts val="1200"/>
              </a:spcAft>
            </a:pPr>
            <a:r>
              <a:rPr b="1" sz="1500">
                <a:solidFill>
                  <a:srgbClr val="1B2A4A"/>
                </a:solidFill>
                <a:latin typeface="Calibri"/>
              </a:rPr>
              <a:t>The Satpura HQ Gap: </a:t>
            </a:r>
            <a:r>
              <a:rPr b="0" sz="1500">
                <a:solidFill>
                  <a:srgbClr val="2D3748"/>
                </a:solidFill>
                <a:latin typeface="Calibri"/>
              </a:rPr>
              <a:t>Even within the head office, Class III staff experience high software UI/UX difficulty, and Class IV support staff are completely isolated from e-Office applications.</a:t>
            </a:r>
          </a:p>
          <a:p>
            <a:pPr>
              <a:spcAft>
                <a:spcPts val="1200"/>
              </a:spcAft>
            </a:pPr>
            <a:r>
              <a:rPr b="1" sz="1500">
                <a:solidFill>
                  <a:srgbClr val="1B2A4A"/>
                </a:solidFill>
                <a:latin typeface="Calibri"/>
              </a:rPr>
              <a:t>Infrastructure Bias: </a:t>
            </a:r>
            <a:r>
              <a:rPr b="0" sz="1500">
                <a:solidFill>
                  <a:srgbClr val="2D3748"/>
                </a:solidFill>
                <a:latin typeface="Calibri"/>
              </a:rPr>
              <a:t>Hardware distribution and software training are heavily skewed towards administrative management, leaving frontline operational staff unsupported.</a:t>
            </a:r>
          </a:p>
        </p:txBody>
      </p:sp>
      <p:sp>
        <p:nvSpPr>
          <p:cNvPr id="5" name="Rectangle 4"/>
          <p:cNvSpPr/>
          <p:nvPr/>
        </p:nvSpPr>
        <p:spPr>
          <a:xfrm>
            <a:off x="6858000" y="1645920"/>
            <a:ext cx="4572000" cy="2011680"/>
          </a:xfrm>
          <a:prstGeom prst="rect">
            <a:avLst/>
          </a:prstGeom>
          <a:solidFill>
            <a:srgbClr val="1B2A4A"/>
          </a:solidFill>
          <a:ln>
            <a:solidFill>
              <a:srgbClr val="C49A2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800"/>
              </a:spcAft>
              <a:defRPr sz="1100" b="1">
                <a:solidFill>
                  <a:srgbClr val="C49A2A"/>
                </a:solidFill>
                <a:latin typeface="Calibri"/>
              </a:defRPr>
            </a:pPr>
            <a:r>
              <a:t>KEY INSIGHT FOR LEADERSHIP</a:t>
            </a:r>
          </a:p>
          <a:p>
            <a:pPr algn="l">
              <a:spcAft>
                <a:spcPts val="800"/>
              </a:spcAft>
              <a:defRPr sz="4400" b="1">
                <a:solidFill>
                  <a:srgbClr val="FFFFFF"/>
                </a:solidFill>
                <a:latin typeface="Trebuchet MS"/>
              </a:defRPr>
            </a:pPr>
            <a:r>
              <a:t>Vertical Divide</a:t>
            </a:r>
          </a:p>
          <a:p>
            <a:pPr algn="l">
              <a:defRPr sz="1300">
                <a:solidFill>
                  <a:srgbClr val="FFFFFF"/>
                </a:solidFill>
                <a:latin typeface="Calibri"/>
              </a:defRPr>
            </a:pPr>
            <a:r>
              <a:t>The digital divide in Madhya Pradesh governance is not between departments (horizontal), but rather vertical (between cadres in the same office building).</a:t>
            </a:r>
          </a:p>
        </p:txBody>
      </p:sp>
      <p:sp>
        <p:nvSpPr>
          <p:cNvPr id="6" name="Rectangle 5"/>
          <p:cNvSpPr/>
          <p:nvPr/>
        </p:nvSpPr>
        <p:spPr>
          <a:xfrm>
            <a:off x="6858000" y="3931920"/>
            <a:ext cx="4572000" cy="2103120"/>
          </a:xfrm>
          <a:prstGeom prst="rect">
            <a:avLst/>
          </a:prstGeom>
          <a:solidFill>
            <a:srgbClr val="F0F4F8"/>
          </a:solidFill>
          <a:ln>
            <a:solidFill>
              <a:srgbClr val="F0F4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defRPr sz="1800" b="1">
                <a:solidFill>
                  <a:srgbClr val="1B2A4A"/>
                </a:solidFill>
                <a:latin typeface="Trebuchet MS"/>
              </a:defRPr>
            </a:pPr>
            <a:r>
              <a:t>Cadre Perception Variance (Likert 1-5)</a:t>
            </a:r>
          </a:p>
          <a:p>
            <a:pPr>
              <a:defRPr sz="1400">
                <a:solidFill>
                  <a:srgbClr val="2D3748"/>
                </a:solidFill>
                <a:latin typeface="Calibri"/>
              </a:defRPr>
            </a:pPr>
            <a:r>
              <a:t>• Class I &amp; II: Usability Score = 4.6/5.0 | Difficulty = 1.2/5.0</a:t>
            </a:r>
            <a:br/>
            <a:r>
              <a:t>• Class III: Usability Score = 3.2/5.0 | Difficulty = 3.6/5.0</a:t>
            </a:r>
            <a:br/>
            <a:r>
              <a:t>• Class IV: Usability Score = 1.4/5.0 | Difficulty = 4.8/5.0</a:t>
            </a:r>
            <a:br/>
            <a:br/>
            <a:r>
              <a:t>Shows a critical drop-off in usability at the operational level.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C49A2A"/>
                </a:solidFill>
                <a:latin typeface="Calibri"/>
              </a:defRPr>
            </a:pPr>
            <a:r>
              <a:t>AIGGPA FIELDWORK STUDY</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1B2A4A"/>
                </a:solidFill>
                <a:latin typeface="Trebuchet MS"/>
              </a:defRPr>
            </a:pPr>
            <a:r>
              <a:t>Finding 2: High Motivation vs. Low Capability</a:t>
            </a:r>
          </a:p>
        </p:txBody>
      </p:sp>
      <p:sp>
        <p:nvSpPr>
          <p:cNvPr id="4" name="TextBox 3"/>
          <p:cNvSpPr txBox="1"/>
          <p:nvPr/>
        </p:nvSpPr>
        <p:spPr>
          <a:xfrm>
            <a:off x="731520" y="1645920"/>
            <a:ext cx="5486400" cy="4389120"/>
          </a:xfrm>
          <a:prstGeom prst="rect">
            <a:avLst/>
          </a:prstGeom>
          <a:noFill/>
        </p:spPr>
        <p:txBody>
          <a:bodyPr wrap="square" lIns="0" rIns="0" tIns="0" bIns="0">
            <a:spAutoFit/>
          </a:bodyPr>
          <a:lstStyle/>
          <a:p>
            <a:pPr>
              <a:spcAft>
                <a:spcPts val="1200"/>
              </a:spcAft>
            </a:pPr>
            <a:r>
              <a:rPr b="1" sz="1600">
                <a:solidFill>
                  <a:srgbClr val="1B2A4A"/>
                </a:solidFill>
                <a:latin typeface="Calibri"/>
              </a:rPr>
              <a:t>The TAM Paradox: </a:t>
            </a:r>
            <a:r>
              <a:rPr b="0" sz="1600">
                <a:solidFill>
                  <a:srgbClr val="2D3748"/>
                </a:solidFill>
                <a:latin typeface="Calibri"/>
              </a:rPr>
              <a:t>Operational and Class IV staff report high Perceived Usefulness (avg 4.0/5) for digital tools, indicating they strongly believe tools improve work efficiency.</a:t>
            </a:r>
          </a:p>
          <a:p>
            <a:pPr>
              <a:spcAft>
                <a:spcPts val="1200"/>
              </a:spcAft>
            </a:pPr>
            <a:r>
              <a:rPr b="1" sz="1500">
                <a:solidFill>
                  <a:srgbClr val="1B2A4A"/>
                </a:solidFill>
                <a:latin typeface="Calibri"/>
              </a:rPr>
              <a:t>Low Self-Efficacy: </a:t>
            </a:r>
            <a:r>
              <a:rPr b="0" sz="1500">
                <a:solidFill>
                  <a:srgbClr val="2D3748"/>
                </a:solidFill>
                <a:latin typeface="Calibri"/>
              </a:rPr>
              <a:t>Despite believing in the tools, Perceived Ease of Use is extremely low (1.5/5) due to the complete lack of structured training and field support.</a:t>
            </a:r>
          </a:p>
          <a:p>
            <a:pPr>
              <a:spcAft>
                <a:spcPts val="1200"/>
              </a:spcAft>
            </a:pPr>
            <a:r>
              <a:rPr b="1" sz="1500">
                <a:solidFill>
                  <a:srgbClr val="1B2A4A"/>
                </a:solidFill>
                <a:latin typeface="Calibri"/>
              </a:rPr>
              <a:t>Overcoming Resistance: </a:t>
            </a:r>
            <a:r>
              <a:rPr b="0" sz="1500">
                <a:solidFill>
                  <a:srgbClr val="2D3748"/>
                </a:solidFill>
                <a:latin typeface="Calibri"/>
              </a:rPr>
              <a:t>The data refutes the assumption of attitudinal resistance. Employees want to adopt digital workflows but lack the technical training and devices.</a:t>
            </a:r>
          </a:p>
        </p:txBody>
      </p:sp>
      <p:sp>
        <p:nvSpPr>
          <p:cNvPr id="5" name="Rectangle 4"/>
          <p:cNvSpPr/>
          <p:nvPr/>
        </p:nvSpPr>
        <p:spPr>
          <a:xfrm>
            <a:off x="6858000" y="1645920"/>
            <a:ext cx="4572000" cy="2011680"/>
          </a:xfrm>
          <a:prstGeom prst="rect">
            <a:avLst/>
          </a:prstGeom>
          <a:solidFill>
            <a:srgbClr val="1B2A4A"/>
          </a:solidFill>
          <a:ln>
            <a:solidFill>
              <a:srgbClr val="C49A2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800"/>
              </a:spcAft>
              <a:defRPr sz="1100" b="1">
                <a:solidFill>
                  <a:srgbClr val="C49A2A"/>
                </a:solidFill>
                <a:latin typeface="Calibri"/>
              </a:defRPr>
            </a:pPr>
            <a:r>
              <a:t>TRAINING DEFICIT</a:t>
            </a:r>
          </a:p>
          <a:p>
            <a:pPr algn="l">
              <a:spcAft>
                <a:spcPts val="800"/>
              </a:spcAft>
              <a:defRPr sz="4400" b="1">
                <a:solidFill>
                  <a:srgbClr val="FFFFFF"/>
                </a:solidFill>
                <a:latin typeface="Trebuchet MS"/>
              </a:defRPr>
            </a:pPr>
            <a:r>
              <a:t>42.5%</a:t>
            </a:r>
          </a:p>
          <a:p>
            <a:pPr algn="l">
              <a:defRPr sz="1300">
                <a:solidFill>
                  <a:srgbClr val="FFFFFF"/>
                </a:solidFill>
                <a:latin typeface="Calibri"/>
              </a:defRPr>
            </a:pPr>
            <a:r>
              <a:t>A near-majority of frontline and operational staff surveyed in the Forest pilot had never received formal IT training or portal instruction.</a:t>
            </a:r>
          </a:p>
        </p:txBody>
      </p:sp>
      <p:sp>
        <p:nvSpPr>
          <p:cNvPr id="6" name="Rectangle 5"/>
          <p:cNvSpPr/>
          <p:nvPr/>
        </p:nvSpPr>
        <p:spPr>
          <a:xfrm>
            <a:off x="6858000" y="3931920"/>
            <a:ext cx="4572000" cy="2103120"/>
          </a:xfrm>
          <a:prstGeom prst="rect">
            <a:avLst/>
          </a:prstGeom>
          <a:solidFill>
            <a:srgbClr val="F0F4F8"/>
          </a:solidFill>
          <a:ln>
            <a:solidFill>
              <a:srgbClr val="F0F4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defRPr sz="1800" b="1">
                <a:solidFill>
                  <a:srgbClr val="1B2A4A"/>
                </a:solidFill>
                <a:latin typeface="Trebuchet MS"/>
              </a:defRPr>
            </a:pPr>
            <a:r>
              <a:t>Hardware Ownership Issues</a:t>
            </a:r>
          </a:p>
          <a:p>
            <a:pPr>
              <a:defRPr sz="1400">
                <a:solidFill>
                  <a:srgbClr val="2D3748"/>
                </a:solidFill>
                <a:latin typeface="Calibri"/>
              </a:defRPr>
            </a:pPr>
            <a:r>
              <a:t>• 70% of field staff use personal mobile smartphones for official reporting and field GIS tracking.</a:t>
            </a:r>
            <a:br/>
            <a:r>
              <a:t>• High software errors and app crashes are recorded on personal devices due to OS version mismatches.</a:t>
            </a:r>
            <a:br/>
            <a:r>
              <a:t>• No department-issued tablets or ruggedized handheld units.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C49A2A"/>
                </a:solidFill>
                <a:latin typeface="Calibri"/>
              </a:defRPr>
            </a:pPr>
            <a:r>
              <a:t>AIGGPA FIELDWORK STUDY</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1B2A4A"/>
                </a:solidFill>
                <a:latin typeface="Trebuchet MS"/>
              </a:defRPr>
            </a:pPr>
            <a:r>
              <a:t>Finding 3: Training &amp; Connectivity as Binding Constraints</a:t>
            </a:r>
          </a:p>
        </p:txBody>
      </p:sp>
      <p:sp>
        <p:nvSpPr>
          <p:cNvPr id="4" name="TextBox 3"/>
          <p:cNvSpPr txBox="1"/>
          <p:nvPr/>
        </p:nvSpPr>
        <p:spPr>
          <a:xfrm>
            <a:off x="731520" y="1645920"/>
            <a:ext cx="5486400" cy="4389120"/>
          </a:xfrm>
          <a:prstGeom prst="rect">
            <a:avLst/>
          </a:prstGeom>
          <a:noFill/>
        </p:spPr>
        <p:txBody>
          <a:bodyPr wrap="square" lIns="0" rIns="0" tIns="0" bIns="0">
            <a:spAutoFit/>
          </a:bodyPr>
          <a:lstStyle/>
          <a:p>
            <a:pPr>
              <a:spcAft>
                <a:spcPts val="1200"/>
              </a:spcAft>
            </a:pPr>
            <a:r>
              <a:rPr b="1" sz="1600">
                <a:solidFill>
                  <a:srgbClr val="1B2A4A"/>
                </a:solidFill>
                <a:latin typeface="Calibri"/>
              </a:rPr>
              <a:t>Dual Constraint System: </a:t>
            </a:r>
            <a:r>
              <a:rPr b="0" sz="1600">
                <a:solidFill>
                  <a:srgbClr val="2D3748"/>
                </a:solidFill>
                <a:latin typeface="Calibri"/>
              </a:rPr>
              <a:t>When cross-tabulating training status and connectivity quality, we discover that both act as independent, parallel binding constraints.</a:t>
            </a:r>
          </a:p>
          <a:p>
            <a:pPr>
              <a:spcAft>
                <a:spcPts val="1200"/>
              </a:spcAft>
            </a:pPr>
            <a:r>
              <a:rPr b="1" sz="1500">
                <a:solidFill>
                  <a:srgbClr val="1B2A4A"/>
                </a:solidFill>
                <a:latin typeface="Calibri"/>
              </a:rPr>
              <a:t>The 2.75 Usability Floor: </a:t>
            </a:r>
            <a:r>
              <a:rPr b="0" sz="1500">
                <a:solidFill>
                  <a:srgbClr val="2D3748"/>
                </a:solidFill>
                <a:latin typeface="Calibri"/>
              </a:rPr>
              <a:t>Staff who are untrained OR have poor internet connectivity report the exact same low usability mean of 2.75, regardless of other positive factors.</a:t>
            </a:r>
          </a:p>
          <a:p>
            <a:pPr>
              <a:spcAft>
                <a:spcPts val="1200"/>
              </a:spcAft>
            </a:pPr>
            <a:r>
              <a:rPr b="1" sz="1500">
                <a:solidFill>
                  <a:srgbClr val="1B2A4A"/>
                </a:solidFill>
                <a:latin typeface="Calibri"/>
              </a:rPr>
              <a:t>No Solo Solution: </a:t>
            </a:r>
            <a:r>
              <a:rPr b="0" sz="1500">
                <a:solidFill>
                  <a:srgbClr val="2D3748"/>
                </a:solidFill>
                <a:latin typeface="Calibri"/>
              </a:rPr>
              <a:t>Improving the software interface or providing training alone will yield zero net adoption if local connectivity is neglected, and vice-versa.</a:t>
            </a:r>
          </a:p>
        </p:txBody>
      </p:sp>
      <p:sp>
        <p:nvSpPr>
          <p:cNvPr id="5" name="Rectangle 4"/>
          <p:cNvSpPr/>
          <p:nvPr/>
        </p:nvSpPr>
        <p:spPr>
          <a:xfrm>
            <a:off x="6858000" y="1645920"/>
            <a:ext cx="4572000" cy="2011680"/>
          </a:xfrm>
          <a:prstGeom prst="rect">
            <a:avLst/>
          </a:prstGeom>
          <a:solidFill>
            <a:srgbClr val="1B2A4A"/>
          </a:solidFill>
          <a:ln>
            <a:solidFill>
              <a:srgbClr val="C49A2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800"/>
              </a:spcAft>
              <a:defRPr sz="1100" b="1">
                <a:solidFill>
                  <a:srgbClr val="C49A2A"/>
                </a:solidFill>
                <a:latin typeface="Calibri"/>
              </a:defRPr>
            </a:pPr>
            <a:r>
              <a:t>INTERNET AND TRAINING BLOCK</a:t>
            </a:r>
          </a:p>
          <a:p>
            <a:pPr algn="l">
              <a:spcAft>
                <a:spcPts val="800"/>
              </a:spcAft>
              <a:defRPr sz="4400" b="1">
                <a:solidFill>
                  <a:srgbClr val="FFFFFF"/>
                </a:solidFill>
                <a:latin typeface="Trebuchet MS"/>
              </a:defRPr>
            </a:pPr>
            <a:r>
              <a:t>Usability Floor</a:t>
            </a:r>
          </a:p>
          <a:p>
            <a:pPr algn="l">
              <a:defRPr sz="1300">
                <a:solidFill>
                  <a:srgbClr val="FFFFFF"/>
                </a:solidFill>
                <a:latin typeface="Calibri"/>
              </a:defRPr>
            </a:pPr>
            <a:r>
              <a:t>Untrained or low-connectivity staff report a flat-line usability score. Solving only one constraint does not improve digital efficiency.</a:t>
            </a:r>
          </a:p>
        </p:txBody>
      </p:sp>
      <p:sp>
        <p:nvSpPr>
          <p:cNvPr id="6" name="Rectangle 5"/>
          <p:cNvSpPr/>
          <p:nvPr/>
        </p:nvSpPr>
        <p:spPr>
          <a:xfrm>
            <a:off x="6858000" y="3931920"/>
            <a:ext cx="4572000" cy="2103120"/>
          </a:xfrm>
          <a:prstGeom prst="rect">
            <a:avLst/>
          </a:prstGeom>
          <a:solidFill>
            <a:srgbClr val="F0F4F8"/>
          </a:solidFill>
          <a:ln>
            <a:solidFill>
              <a:srgbClr val="F0F4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defRPr sz="1800" b="1">
                <a:solidFill>
                  <a:srgbClr val="1B2A4A"/>
                </a:solidFill>
                <a:latin typeface="Trebuchet MS"/>
              </a:defRPr>
            </a:pPr>
            <a:r>
              <a:t>Policy Action Required</a:t>
            </a:r>
          </a:p>
          <a:p>
            <a:pPr>
              <a:defRPr sz="1400">
                <a:solidFill>
                  <a:srgbClr val="2D3748"/>
                </a:solidFill>
                <a:latin typeface="Calibri"/>
              </a:defRPr>
            </a:pPr>
            <a:r>
              <a:t>• Infrastructure investments (offline capability for mobile reporting apps) must be rolled out concurrently with district-level training camps.</a:t>
            </a:r>
            <a:br/>
            <a:r>
              <a:t>• Focus on localizing databases to allow offline field data entry with auto-sync.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C49A2A"/>
                </a:solidFill>
                <a:latin typeface="Calibri"/>
              </a:defRPr>
            </a:pPr>
            <a:r>
              <a:t>AIGGPA FIELDWORK STUDY</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1B2A4A"/>
                </a:solidFill>
                <a:latin typeface="Trebuchet MS"/>
              </a:defRPr>
            </a:pPr>
            <a:r>
              <a:t>Qualitative Insights: Frontline Administrative Friction</a:t>
            </a:r>
          </a:p>
        </p:txBody>
      </p:sp>
      <p:sp>
        <p:nvSpPr>
          <p:cNvPr id="4" name="TextBox 3"/>
          <p:cNvSpPr txBox="1"/>
          <p:nvPr/>
        </p:nvSpPr>
        <p:spPr>
          <a:xfrm>
            <a:off x="731520" y="1645920"/>
            <a:ext cx="5486400" cy="4389120"/>
          </a:xfrm>
          <a:prstGeom prst="rect">
            <a:avLst/>
          </a:prstGeom>
          <a:noFill/>
        </p:spPr>
        <p:txBody>
          <a:bodyPr wrap="square" lIns="0" rIns="0" tIns="0" bIns="0">
            <a:spAutoFit/>
          </a:bodyPr>
          <a:lstStyle/>
          <a:p>
            <a:pPr>
              <a:spcAft>
                <a:spcPts val="1200"/>
              </a:spcAft>
            </a:pPr>
            <a:r>
              <a:rPr b="1" sz="1600">
                <a:solidFill>
                  <a:srgbClr val="1B2A4A"/>
                </a:solidFill>
                <a:latin typeface="Calibri"/>
              </a:rPr>
              <a:t>Double Work Burden: </a:t>
            </a:r>
            <a:r>
              <a:rPr b="0" sz="1600">
                <a:solidFill>
                  <a:srgbClr val="2D3748"/>
                </a:solidFill>
                <a:latin typeface="Calibri"/>
              </a:rPr>
              <a:t>Field staff (Patwaris, GRS, Range Officers) are forced to duplicate records by entering data digitally on portals and then rewriting them in manual registers.</a:t>
            </a:r>
          </a:p>
          <a:p>
            <a:pPr>
              <a:spcAft>
                <a:spcPts val="1200"/>
              </a:spcAft>
            </a:pPr>
            <a:r>
              <a:rPr b="1" sz="1500">
                <a:solidFill>
                  <a:srgbClr val="1B2A4A"/>
                </a:solidFill>
                <a:latin typeface="Calibri"/>
              </a:rPr>
              <a:t>Portal Complexity: </a:t>
            </a:r>
            <a:r>
              <a:rPr b="0" sz="1500">
                <a:solidFill>
                  <a:srgbClr val="2D3748"/>
                </a:solidFill>
                <a:latin typeface="Calibri"/>
              </a:rPr>
              <a:t>Frontline staff report high interface complexity on SAARA, e-Gram Swaraj, and e-Green Watch, resulting in slow data entry and higher error rates.</a:t>
            </a:r>
          </a:p>
          <a:p>
            <a:pPr>
              <a:spcAft>
                <a:spcPts val="1200"/>
              </a:spcAft>
            </a:pPr>
            <a:r>
              <a:rPr b="1" sz="1500">
                <a:solidFill>
                  <a:srgbClr val="1B2A4A"/>
                </a:solidFill>
                <a:latin typeface="Calibri"/>
              </a:rPr>
              <a:t>Lack of Helpdesk Support: </a:t>
            </a:r>
            <a:r>
              <a:rPr b="0" sz="1500">
                <a:solidFill>
                  <a:srgbClr val="2D3748"/>
                </a:solidFill>
                <a:latin typeface="Calibri"/>
              </a:rPr>
              <a:t>No localized IT helpdesk or troubleshooting mechanism is available for block and district level staff, causing prolonged software downtime.</a:t>
            </a:r>
          </a:p>
        </p:txBody>
      </p:sp>
      <p:sp>
        <p:nvSpPr>
          <p:cNvPr id="5" name="Rectangle 4"/>
          <p:cNvSpPr/>
          <p:nvPr/>
        </p:nvSpPr>
        <p:spPr>
          <a:xfrm>
            <a:off x="6858000" y="1645920"/>
            <a:ext cx="4572000" cy="2011680"/>
          </a:xfrm>
          <a:prstGeom prst="rect">
            <a:avLst/>
          </a:prstGeom>
          <a:solidFill>
            <a:srgbClr val="1B2A4A"/>
          </a:solidFill>
          <a:ln>
            <a:solidFill>
              <a:srgbClr val="C49A2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800"/>
              </a:spcAft>
              <a:defRPr sz="1100" b="1">
                <a:solidFill>
                  <a:srgbClr val="C49A2A"/>
                </a:solidFill>
                <a:latin typeface="Calibri"/>
              </a:defRPr>
            </a:pPr>
            <a:r>
              <a:t>FIELD QUOTE: REVENUE DEPARTMENT</a:t>
            </a:r>
          </a:p>
          <a:p>
            <a:pPr algn="l">
              <a:spcAft>
                <a:spcPts val="800"/>
              </a:spcAft>
              <a:defRPr sz="4400" b="1">
                <a:solidFill>
                  <a:srgbClr val="FFFFFF"/>
                </a:solidFill>
                <a:latin typeface="Trebuchet MS"/>
              </a:defRPr>
            </a:pPr>
            <a:r>
              <a:t>Double Entry</a:t>
            </a:r>
          </a:p>
          <a:p>
            <a:pPr algn="l">
              <a:defRPr sz="1300">
                <a:solidFill>
                  <a:srgbClr val="FFFFFF"/>
                </a:solidFill>
                <a:latin typeface="Calibri"/>
              </a:defRPr>
            </a:pPr>
            <a:r>
              <a:t>"We spend half of our working hours entering data on the mobile portal, and then we have to go back and copy the exact same details into our manual physical registers for audits."</a:t>
            </a:r>
          </a:p>
        </p:txBody>
      </p:sp>
      <p:sp>
        <p:nvSpPr>
          <p:cNvPr id="6" name="Rectangle 5"/>
          <p:cNvSpPr/>
          <p:nvPr/>
        </p:nvSpPr>
        <p:spPr>
          <a:xfrm>
            <a:off x="6858000" y="3931920"/>
            <a:ext cx="4572000" cy="2103120"/>
          </a:xfrm>
          <a:prstGeom prst="rect">
            <a:avLst/>
          </a:prstGeom>
          <a:solidFill>
            <a:srgbClr val="F0F4F8"/>
          </a:solidFill>
          <a:ln>
            <a:solidFill>
              <a:srgbClr val="F0F4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defRPr sz="1800" b="1">
                <a:solidFill>
                  <a:srgbClr val="1B2A4A"/>
                </a:solidFill>
                <a:latin typeface="Trebuchet MS"/>
              </a:defRPr>
            </a:pPr>
            <a:r>
              <a:t>Thematic Coding Emergent Clusters</a:t>
            </a:r>
          </a:p>
          <a:p>
            <a:pPr>
              <a:defRPr sz="1400">
                <a:solidFill>
                  <a:srgbClr val="2D3748"/>
                </a:solidFill>
                <a:latin typeface="Calibri"/>
              </a:defRPr>
            </a:pPr>
            <a:r>
              <a:t>Based on reflexive thematic analysis of interviews:</a:t>
            </a:r>
            <a:br/>
            <a:r>
              <a:t>• 85% of interviewees highlighted the duplicate-documentation burden.</a:t>
            </a:r>
            <a:br/>
            <a:r>
              <a:t>• 70% reported lack of local IT support for device issues.</a:t>
            </a:r>
            <a:br/>
            <a:r>
              <a:t>• 65% requested local language translation for operational fields.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C49A2A"/>
                </a:solidFill>
                <a:latin typeface="Calibri"/>
              </a:defRPr>
            </a:pPr>
            <a:r>
              <a:t>AIGGPA FIELDWORK STUDY</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1B2A4A"/>
                </a:solidFill>
                <a:latin typeface="Trebuchet MS"/>
              </a:defRPr>
            </a:pPr>
            <a:r>
              <a:t>Policy Recommendations &amp; Reform Strategy</a:t>
            </a:r>
          </a:p>
        </p:txBody>
      </p:sp>
      <p:sp>
        <p:nvSpPr>
          <p:cNvPr id="4" name="TextBox 3"/>
          <p:cNvSpPr txBox="1"/>
          <p:nvPr/>
        </p:nvSpPr>
        <p:spPr>
          <a:xfrm>
            <a:off x="731520" y="1645920"/>
            <a:ext cx="5486400" cy="4389120"/>
          </a:xfrm>
          <a:prstGeom prst="rect">
            <a:avLst/>
          </a:prstGeom>
          <a:noFill/>
        </p:spPr>
        <p:txBody>
          <a:bodyPr wrap="square" lIns="0" rIns="0" tIns="0" bIns="0">
            <a:spAutoFit/>
          </a:bodyPr>
          <a:lstStyle/>
          <a:p>
            <a:pPr>
              <a:spcAft>
                <a:spcPts val="1200"/>
              </a:spcAft>
            </a:pPr>
            <a:r>
              <a:rPr b="1" sz="1600">
                <a:solidFill>
                  <a:srgbClr val="1B2A4A"/>
                </a:solidFill>
                <a:latin typeface="Calibri"/>
              </a:rPr>
              <a:t>Workflow Re-engineering: </a:t>
            </a:r>
            <a:r>
              <a:rPr b="0" sz="1600">
                <a:solidFill>
                  <a:srgbClr val="2D3748"/>
                </a:solidFill>
                <a:latin typeface="Calibri"/>
              </a:rPr>
              <a:t>Enforce a strict 'single-point-of-entry' mandate. Legally authorize digital signatures and portal logs to eliminate the double-entry manual register burden.</a:t>
            </a:r>
          </a:p>
          <a:p>
            <a:pPr>
              <a:spcAft>
                <a:spcPts val="1200"/>
              </a:spcAft>
            </a:pPr>
            <a:r>
              <a:rPr b="1" sz="1500">
                <a:solidFill>
                  <a:srgbClr val="1B2A4A"/>
                </a:solidFill>
                <a:latin typeface="Calibri"/>
              </a:rPr>
              <a:t>Localized IT Support: </a:t>
            </a:r>
            <a:r>
              <a:rPr b="0" sz="1500">
                <a:solidFill>
                  <a:srgbClr val="2D3748"/>
                </a:solidFill>
                <a:latin typeface="Calibri"/>
              </a:rPr>
              <a:t>Establish a rapid-response IT helpdesk at each block office with a designated technical officer to handle software troubleshooting and device updates.</a:t>
            </a:r>
          </a:p>
          <a:p>
            <a:pPr>
              <a:spcAft>
                <a:spcPts val="1200"/>
              </a:spcAft>
            </a:pPr>
            <a:r>
              <a:rPr b="1" sz="1500">
                <a:solidFill>
                  <a:srgbClr val="1B2A4A"/>
                </a:solidFill>
                <a:latin typeface="Calibri"/>
              </a:rPr>
              <a:t>Role-Specific Simulation Training: </a:t>
            </a:r>
            <a:r>
              <a:rPr b="0" sz="1500">
                <a:solidFill>
                  <a:srgbClr val="2D3748"/>
                </a:solidFill>
                <a:latin typeface="Calibri"/>
              </a:rPr>
              <a:t>Transition from general IT literacy training to role-specific simulation workshops focusing on actual portals (e.g., MP Bhulekh, NREGASoft).</a:t>
            </a:r>
          </a:p>
        </p:txBody>
      </p:sp>
      <p:sp>
        <p:nvSpPr>
          <p:cNvPr id="5" name="Rectangle 4"/>
          <p:cNvSpPr/>
          <p:nvPr/>
        </p:nvSpPr>
        <p:spPr>
          <a:xfrm>
            <a:off x="6858000" y="1645920"/>
            <a:ext cx="4572000" cy="2011680"/>
          </a:xfrm>
          <a:prstGeom prst="rect">
            <a:avLst/>
          </a:prstGeom>
          <a:solidFill>
            <a:srgbClr val="1B2A4A"/>
          </a:solidFill>
          <a:ln>
            <a:solidFill>
              <a:srgbClr val="C49A2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800"/>
              </a:spcAft>
              <a:defRPr sz="1100" b="1">
                <a:solidFill>
                  <a:srgbClr val="C49A2A"/>
                </a:solidFill>
                <a:latin typeface="Calibri"/>
              </a:defRPr>
            </a:pPr>
            <a:r>
              <a:t>RECOMMENDATION FOR DEVICE ISSUES</a:t>
            </a:r>
          </a:p>
          <a:p>
            <a:pPr algn="l">
              <a:spcAft>
                <a:spcPts val="800"/>
              </a:spcAft>
              <a:defRPr sz="4400" b="1">
                <a:solidFill>
                  <a:srgbClr val="FFFFFF"/>
                </a:solidFill>
                <a:latin typeface="Trebuchet MS"/>
              </a:defRPr>
            </a:pPr>
            <a:r>
              <a:t>Dedicated Devices</a:t>
            </a:r>
          </a:p>
          <a:p>
            <a:pPr algn="l">
              <a:defRPr sz="1300">
                <a:solidFill>
                  <a:srgbClr val="FFFFFF"/>
                </a:solidFill>
                <a:latin typeface="Calibri"/>
              </a:defRPr>
            </a:pPr>
            <a:r>
              <a:t>Phase out the use of personal smartphones. Issue dedicated, ruggedized tablet/GPS units with pre-configured SIM cards to frontline field staff.</a:t>
            </a:r>
          </a:p>
        </p:txBody>
      </p:sp>
      <p:sp>
        <p:nvSpPr>
          <p:cNvPr id="6" name="Rectangle 5"/>
          <p:cNvSpPr/>
          <p:nvPr/>
        </p:nvSpPr>
        <p:spPr>
          <a:xfrm>
            <a:off x="6858000" y="3931920"/>
            <a:ext cx="4572000" cy="2103120"/>
          </a:xfrm>
          <a:prstGeom prst="rect">
            <a:avLst/>
          </a:prstGeom>
          <a:solidFill>
            <a:srgbClr val="F0F4F8"/>
          </a:solidFill>
          <a:ln>
            <a:solidFill>
              <a:srgbClr val="F0F4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defRPr sz="1800" b="1">
                <a:solidFill>
                  <a:srgbClr val="1B2A4A"/>
                </a:solidFill>
                <a:latin typeface="Trebuchet MS"/>
              </a:defRPr>
            </a:pPr>
            <a:r>
              <a:t>Academic &amp; Policy Alignment</a:t>
            </a:r>
          </a:p>
          <a:p>
            <a:pPr>
              <a:defRPr sz="1400">
                <a:solidFill>
                  <a:srgbClr val="2D3748"/>
                </a:solidFill>
                <a:latin typeface="Calibri"/>
              </a:defRPr>
            </a:pPr>
            <a:r>
              <a:t>These recommendations are directly aligned to institutional benchmarks:</a:t>
            </a:r>
            <a:br/>
            <a:r>
              <a:t>• OECD Digital Government Policy Framework (usability, inclusion)</a:t>
            </a:r>
            <a:br/>
            <a:r>
              <a:t>• UN e-Government Development Index (EGDI) 2024 (capacity building)</a:t>
            </a:r>
            <a:br/>
            <a:r>
              <a:t>• TAM/UTAUT Framework (improving Effort Expectancy)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C49A2A"/>
                </a:solidFill>
                <a:latin typeface="Calibri"/>
              </a:defRPr>
            </a:pPr>
            <a:r>
              <a:t>AIGGPA FIELDWORK STUDY</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1B2A4A"/>
                </a:solidFill>
                <a:latin typeface="Trebuchet MS"/>
              </a:defRPr>
            </a:pPr>
            <a:r>
              <a:t>Project Roadmap &amp; Timeline to Submission</a:t>
            </a:r>
          </a:p>
        </p:txBody>
      </p:sp>
      <p:sp>
        <p:nvSpPr>
          <p:cNvPr id="4" name="TextBox 3"/>
          <p:cNvSpPr txBox="1"/>
          <p:nvPr/>
        </p:nvSpPr>
        <p:spPr>
          <a:xfrm>
            <a:off x="731520" y="1645920"/>
            <a:ext cx="5486400" cy="4389120"/>
          </a:xfrm>
          <a:prstGeom prst="rect">
            <a:avLst/>
          </a:prstGeom>
          <a:noFill/>
        </p:spPr>
        <p:txBody>
          <a:bodyPr wrap="square" lIns="0" rIns="0" tIns="0" bIns="0">
            <a:spAutoFit/>
          </a:bodyPr>
          <a:lstStyle/>
          <a:p>
            <a:pPr>
              <a:spcAft>
                <a:spcPts val="1200"/>
              </a:spcAft>
            </a:pPr>
            <a:r>
              <a:rPr b="1" sz="1600">
                <a:solidFill>
                  <a:srgbClr val="1B2A4A"/>
                </a:solidFill>
                <a:latin typeface="Calibri"/>
              </a:rPr>
              <a:t>Week 10 (Current): </a:t>
            </a:r>
            <a:r>
              <a:rPr b="0" sz="1600">
                <a:solidFill>
                  <a:srgbClr val="2D3748"/>
                </a:solidFill>
                <a:latin typeface="Calibri"/>
              </a:rPr>
              <a:t>Finalising Revenue Department DO data collection and data entry. Ingesting field responses and running initial descriptives.</a:t>
            </a:r>
          </a:p>
          <a:p>
            <a:pPr>
              <a:spcAft>
                <a:spcPts val="1200"/>
              </a:spcAft>
            </a:pPr>
            <a:r>
              <a:rPr b="1" sz="1500">
                <a:solidFill>
                  <a:srgbClr val="1B2A4A"/>
                </a:solidFill>
                <a:latin typeface="Calibri"/>
              </a:rPr>
              <a:t>Week 11 (June 15-20): </a:t>
            </a:r>
            <a:r>
              <a:rPr b="0" sz="1500">
                <a:solidFill>
                  <a:srgbClr val="2D3748"/>
                </a:solidFill>
                <a:latin typeface="Calibri"/>
              </a:rPr>
              <a:t>Running final regression models, thematic qualitative mappings, and drafting report chapters (Introduction, Literature, Methodology, Findings).</a:t>
            </a:r>
          </a:p>
          <a:p>
            <a:pPr>
              <a:spcAft>
                <a:spcPts val="1200"/>
              </a:spcAft>
            </a:pPr>
            <a:r>
              <a:rPr b="1" sz="1500">
                <a:solidFill>
                  <a:srgbClr val="1B2A4A"/>
                </a:solidFill>
                <a:latin typeface="Calibri"/>
              </a:rPr>
              <a:t>Week 12 (June 21-23): </a:t>
            </a:r>
            <a:r>
              <a:rPr b="0" sz="1500">
                <a:solidFill>
                  <a:srgbClr val="2D3748"/>
                </a:solidFill>
                <a:latin typeface="Calibri"/>
              </a:rPr>
              <a:t>Compiling pre-submission draft, completing panel slide deck, and submitting the final research report to the AIGGPA coordinators.</a:t>
            </a:r>
          </a:p>
        </p:txBody>
      </p:sp>
      <p:sp>
        <p:nvSpPr>
          <p:cNvPr id="5" name="Rectangle 4"/>
          <p:cNvSpPr/>
          <p:nvPr/>
        </p:nvSpPr>
        <p:spPr>
          <a:xfrm>
            <a:off x="6858000" y="1645920"/>
            <a:ext cx="4572000" cy="2011680"/>
          </a:xfrm>
          <a:prstGeom prst="rect">
            <a:avLst/>
          </a:prstGeom>
          <a:solidFill>
            <a:srgbClr val="1B2A4A"/>
          </a:solidFill>
          <a:ln>
            <a:solidFill>
              <a:srgbClr val="C49A2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800"/>
              </a:spcAft>
              <a:defRPr sz="1100" b="1">
                <a:solidFill>
                  <a:srgbClr val="C49A2A"/>
                </a:solidFill>
                <a:latin typeface="Calibri"/>
              </a:defRPr>
            </a:pPr>
            <a:r>
              <a:t>FINAL SUBMISSION DEADLINE</a:t>
            </a:r>
          </a:p>
          <a:p>
            <a:pPr algn="l">
              <a:spcAft>
                <a:spcPts val="800"/>
              </a:spcAft>
              <a:defRPr sz="4400" b="1">
                <a:solidFill>
                  <a:srgbClr val="FFFFFF"/>
                </a:solidFill>
                <a:latin typeface="Trebuchet MS"/>
              </a:defRPr>
            </a:pPr>
            <a:r>
              <a:t>June 23, 2026</a:t>
            </a:r>
          </a:p>
          <a:p>
            <a:pPr algn="l">
              <a:defRPr sz="1300">
                <a:solidFill>
                  <a:srgbClr val="FFFFFF"/>
                </a:solidFill>
                <a:latin typeface="Calibri"/>
              </a:defRPr>
            </a:pPr>
            <a:r>
              <a:t>The analysis pipeline is 100% automated. Report submission and final presentation are scheduled to align with coordinator requirements.</a:t>
            </a:r>
          </a:p>
        </p:txBody>
      </p:sp>
      <p:sp>
        <p:nvSpPr>
          <p:cNvPr id="6" name="Rectangle 5"/>
          <p:cNvSpPr/>
          <p:nvPr/>
        </p:nvSpPr>
        <p:spPr>
          <a:xfrm>
            <a:off x="6858000" y="3931920"/>
            <a:ext cx="4572000" cy="2103120"/>
          </a:xfrm>
          <a:prstGeom prst="rect">
            <a:avLst/>
          </a:prstGeom>
          <a:solidFill>
            <a:srgbClr val="F0F4F8"/>
          </a:solidFill>
          <a:ln>
            <a:solidFill>
              <a:srgbClr val="F0F4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defRPr sz="1800" b="1">
                <a:solidFill>
                  <a:srgbClr val="1B2A4A"/>
                </a:solidFill>
                <a:latin typeface="Trebuchet MS"/>
              </a:defRPr>
            </a:pPr>
            <a:r>
              <a:t>AIGGPA Evaluation Milestones</a:t>
            </a:r>
          </a:p>
          <a:p>
            <a:pPr>
              <a:defRPr sz="1400">
                <a:solidFill>
                  <a:srgbClr val="2D3748"/>
                </a:solidFill>
                <a:latin typeface="Calibri"/>
              </a:defRPr>
            </a:pPr>
            <a:r>
              <a:t>• Monday, June 8 (CEO Review Meeting) - Scope Revised [Passed]</a:t>
            </a:r>
            <a:br/>
            <a:r>
              <a:t>• Tuesday, June 23 (Draft Report Submission) [Target]</a:t>
            </a:r>
            <a:br/>
            <a:r>
              <a:t>• Wednesday, June 24 (Panel Presentation Slides)</a:t>
            </a:r>
            <a:br/>
            <a:r>
              <a:t>• Saturday, June 27 (Final Report Submission)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2011680"/>
            <a:ext cx="10360152" cy="3657600"/>
          </a:xfrm>
          <a:prstGeom prst="rect">
            <a:avLst/>
          </a:prstGeom>
          <a:noFill/>
        </p:spPr>
        <p:txBody>
          <a:bodyPr wrap="square" lIns="0" rIns="0" tIns="0" bIns="0">
            <a:spAutoFit/>
          </a:bodyPr>
          <a:lstStyle/>
          <a:p>
            <a:pPr>
              <a:spcAft>
                <a:spcPts val="1200"/>
              </a:spcAft>
              <a:defRPr sz="3800" b="1">
                <a:solidFill>
                  <a:srgbClr val="FFFFFF"/>
                </a:solidFill>
                <a:latin typeface="Trebuchet MS"/>
              </a:defRPr>
            </a:pPr>
            <a:r>
              <a:t>TOWARDS A DIGITALLY EMPOWERED FRONT LINE</a:t>
            </a:r>
          </a:p>
          <a:p>
            <a:pPr>
              <a:spcAft>
                <a:spcPts val="4000"/>
              </a:spcAft>
              <a:defRPr sz="1800">
                <a:solidFill>
                  <a:srgbClr val="C49A2A"/>
                </a:solidFill>
                <a:latin typeface="Calibri"/>
              </a:defRPr>
            </a:pPr>
            <a:r>
              <a:t>By shifting focus from central logins to frontline user efficiency, Madhya Pradesh can bridge the digital divide and unlock the true value of its governance systems.</a:t>
            </a:r>
          </a:p>
          <a:p>
            <a:pPr>
              <a:defRPr sz="2200" b="1">
                <a:solidFill>
                  <a:srgbClr val="FFFFFF"/>
                </a:solidFill>
                <a:latin typeface="Trebuchet MS"/>
              </a:defRPr>
            </a:pPr>
            <a:r>
              <a:t>Thank You. Open for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